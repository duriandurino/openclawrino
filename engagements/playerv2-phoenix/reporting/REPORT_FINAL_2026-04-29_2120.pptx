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compass-logo.png"/>
          <p:cNvPicPr>
            <a:picLocks noChangeAspect="1"/>
          </p:cNvPicPr>
          <p:nvPr/>
        </p:nvPicPr>
        <p:blipFill>
          <a:blip r:embed="rId2"/>
          <a:stretch>
            <a:fillRect/>
          </a:stretch>
        </p:blipFill>
        <p:spPr>
          <a:xfrm>
            <a:off x="8366760" y="256032"/>
            <a:ext cx="3017520" cy="526312"/>
          </a:xfrm>
          <a:prstGeom prst="rect">
            <a:avLst/>
          </a:prstGeom>
        </p:spPr>
      </p:pic>
      <p:sp>
        <p:nvSpPr>
          <p:cNvPr id="5" name="Rectangle 4"/>
          <p:cNvSpPr/>
          <p:nvPr/>
        </p:nvSpPr>
        <p:spPr>
          <a:xfrm>
            <a:off x="1097280" y="1508760"/>
            <a:ext cx="9966960" cy="7315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10515600" cy="1371600"/>
          </a:xfrm>
          <a:prstGeom prst="rect">
            <a:avLst/>
          </a:prstGeom>
          <a:noFill/>
        </p:spPr>
        <p:txBody>
          <a:bodyPr wrap="none">
            <a:spAutoFit/>
          </a:bodyPr>
          <a:lstStyle/>
          <a:p>
            <a:pPr algn="ctr">
              <a:defRPr sz="4400" b="1">
                <a:solidFill>
                  <a:srgbClr val="F8F9FA"/>
                </a:solidFill>
              </a:defRPr>
            </a:pPr>
            <a:r>
              <a:t>Penetration Test Report — playerv2-phoenix</a:t>
            </a:r>
          </a:p>
        </p:txBody>
      </p:sp>
      <p:sp>
        <p:nvSpPr>
          <p:cNvPr id="7" name="TextBox 6"/>
          <p:cNvSpPr txBox="1"/>
          <p:nvPr/>
        </p:nvSpPr>
        <p:spPr>
          <a:xfrm>
            <a:off x="822960" y="3657600"/>
            <a:ext cx="10515600" cy="731520"/>
          </a:xfrm>
          <a:prstGeom prst="rect">
            <a:avLst/>
          </a:prstGeom>
          <a:noFill/>
        </p:spPr>
        <p:txBody>
          <a:bodyPr wrap="none">
            <a:spAutoFit/>
          </a:bodyPr>
          <a:lstStyle/>
          <a:p>
            <a:pPr algn="ctr">
              <a:defRPr sz="2400">
                <a:solidFill>
                  <a:srgbClr val="58B847"/>
                </a:solidFill>
              </a:defRPr>
            </a:pPr>
            <a:r>
              <a:t>Security Assessment Results</a:t>
            </a:r>
          </a:p>
        </p:txBody>
      </p:sp>
      <p:sp>
        <p:nvSpPr>
          <p:cNvPr id="8" name="TextBox 7"/>
          <p:cNvSpPr txBox="1"/>
          <p:nvPr/>
        </p:nvSpPr>
        <p:spPr>
          <a:xfrm>
            <a:off x="822960" y="4663440"/>
            <a:ext cx="10515600" cy="457200"/>
          </a:xfrm>
          <a:prstGeom prst="rect">
            <a:avLst/>
          </a:prstGeom>
          <a:noFill/>
        </p:spPr>
        <p:txBody>
          <a:bodyPr wrap="none">
            <a:spAutoFit/>
          </a:bodyPr>
          <a:lstStyle/>
          <a:p>
            <a:pPr algn="ctr">
              <a:defRPr sz="1600">
                <a:solidFill>
                  <a:srgbClr val="ADB5BD"/>
                </a:solidFill>
              </a:defRPr>
            </a:pPr>
            <a:r>
              <a:t>April 29, 2026</a:t>
            </a:r>
          </a:p>
        </p:txBody>
      </p:sp>
      <p:sp>
        <p:nvSpPr>
          <p:cNvPr id="9" name="Rounded Rectangle 8"/>
          <p:cNvSpPr/>
          <p:nvPr/>
        </p:nvSpPr>
        <p:spPr>
          <a:xfrm>
            <a:off x="5029200" y="5486400"/>
            <a:ext cx="2133295" cy="548640"/>
          </a:xfrm>
          <a:prstGeom prst="roundRect">
            <a:avLst/>
          </a:prstGeom>
          <a:solidFill>
            <a:srgbClr val="FD7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8F9FA"/>
                </a:solidFill>
              </a:defRPr>
            </a:pPr>
            <a:r>
              <a:t>Risk: HIGH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Executive Summary</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Target: playerv2-phoenix</a:t>
            </a:r>
          </a:p>
          <a:p>
            <a:pPr>
              <a:lnSpc>
                <a:spcPct val="145000"/>
              </a:lnSpc>
              <a:spcAft>
                <a:spcPts val="800"/>
              </a:spcAft>
              <a:defRPr sz="1800">
                <a:solidFill>
                  <a:srgbClr val="07172F"/>
                </a:solidFill>
              </a:defRPr>
            </a:pPr>
            <a:r>
              <a:t>Findings: 3 issues identified</a:t>
            </a:r>
          </a:p>
          <a:p>
            <a:pPr>
              <a:lnSpc>
                <a:spcPct val="145000"/>
              </a:lnSpc>
              <a:spcAft>
                <a:spcPts val="800"/>
              </a:spcAft>
              <a:defRPr b="1" sz="1800">
                <a:solidFill>
                  <a:srgbClr val="FD7E14"/>
                </a:solidFill>
              </a:defRPr>
            </a:pPr>
            <a:r>
              <a:t>Highest risk: HIGH</a:t>
            </a:r>
          </a:p>
          <a:p>
            <a:pPr>
              <a:lnSpc>
                <a:spcPct val="145000"/>
              </a:lnSpc>
              <a:spcAft>
                <a:spcPts val="800"/>
              </a:spcAft>
              <a:defRPr sz="1800">
                <a:solidFill>
                  <a:srgbClr val="07172F"/>
                </a:solidFill>
              </a:defRPr>
            </a:pPr>
          </a:p>
          <a:p>
            <a:pPr>
              <a:lnSpc>
                <a:spcPct val="145000"/>
              </a:lnSpc>
              <a:spcAft>
                <a:spcPts val="800"/>
              </a:spcAft>
              <a:defRPr b="1" sz="1800">
                <a:solidFill>
                  <a:srgbClr val="FD7E14"/>
                </a:solidFill>
              </a:defRPr>
            </a:pPr>
            <a:r>
              <a:t>• PHX-V02 (HIGH): Fail-open local access after hardware-check crash</a:t>
            </a:r>
          </a:p>
          <a:p>
            <a:pPr>
              <a:lnSpc>
                <a:spcPct val="145000"/>
              </a:lnSpc>
              <a:spcAft>
                <a:spcPts val="800"/>
              </a:spcAft>
              <a:defRPr b="1" sz="1800">
                <a:solidFill>
                  <a:srgbClr val="FD7E14"/>
                </a:solidFill>
              </a:defRPr>
            </a:pPr>
            <a:r>
              <a:t>• PHX-V03 (HIGH): Sensitive provisioning artifact exposure in shell history</a:t>
            </a:r>
          </a:p>
          <a:p>
            <a:pPr>
              <a:lnSpc>
                <a:spcPct val="145000"/>
              </a:lnSpc>
              <a:spcAft>
                <a:spcPts val="800"/>
              </a:spcAft>
              <a:defRPr b="1" sz="1800">
                <a:solidFill>
                  <a:srgbClr val="FFC107"/>
                </a:solidFill>
              </a:defRPr>
            </a:pPr>
            <a:r>
              <a:t>• PHX-V01 (MEDIUM): Storage-interface-dependent authorization failure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Scope, ROE, and Methodology</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Assessment type: structured penetration test</a:t>
            </a:r>
          </a:p>
          <a:p>
            <a:pPr>
              <a:lnSpc>
                <a:spcPct val="145000"/>
              </a:lnSpc>
              <a:spcAft>
                <a:spcPts val="800"/>
              </a:spcAft>
              <a:defRPr sz="1800">
                <a:solidFill>
                  <a:srgbClr val="07172F"/>
                </a:solidFill>
              </a:defRPr>
            </a:pPr>
            <a:r>
              <a:t>Rules of engagement: activities performed within the authorized engagement scope</a:t>
            </a:r>
          </a:p>
          <a:p>
            <a:pPr>
              <a:lnSpc>
                <a:spcPct val="145000"/>
              </a:lnSpc>
              <a:spcAft>
                <a:spcPts val="800"/>
              </a:spcAft>
              <a:defRPr sz="1800">
                <a:solidFill>
                  <a:srgbClr val="07172F"/>
                </a:solidFill>
              </a:defRPr>
            </a:pPr>
            <a:r>
              <a:t>Limitation: findings were documented from the assessed evidence set and should be revalidated during remediation and retest</a:t>
            </a:r>
          </a:p>
          <a:p>
            <a:pPr>
              <a:lnSpc>
                <a:spcPct val="145000"/>
              </a:lnSpc>
              <a:spcAft>
                <a:spcPts val="800"/>
              </a:spcAft>
              <a:defRPr sz="1800">
                <a:solidFill>
                  <a:srgbClr val="07172F"/>
                </a:solidFill>
              </a:defRPr>
            </a:pPr>
            <a:r>
              <a:t>Method: Reconnaissance, Enumeration, Vulnerability Analysis, Exploitation assessment, Post-Exploitation review, and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Risk Overview</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Severity Counts</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Critical: 0</a:t>
            </a:r>
          </a:p>
          <a:p>
            <a:pPr>
              <a:lnSpc>
                <a:spcPct val="120000"/>
              </a:lnSpc>
              <a:spcAft>
                <a:spcPts val="600"/>
              </a:spcAft>
              <a:defRPr sz="1400"/>
            </a:pPr>
            <a:r>
              <a:t>• High: 2</a:t>
            </a:r>
          </a:p>
          <a:p>
            <a:pPr>
              <a:lnSpc>
                <a:spcPct val="120000"/>
              </a:lnSpc>
              <a:spcAft>
                <a:spcPts val="600"/>
              </a:spcAft>
              <a:defRPr sz="1400"/>
            </a:pPr>
            <a:r>
              <a:t>• Medium: 1</a:t>
            </a:r>
          </a:p>
          <a:p>
            <a:pPr>
              <a:lnSpc>
                <a:spcPct val="120000"/>
              </a:lnSpc>
              <a:spcAft>
                <a:spcPts val="600"/>
              </a:spcAft>
              <a:defRPr sz="1400"/>
            </a:pPr>
            <a:r>
              <a:t>• Low: 0</a:t>
            </a:r>
          </a:p>
          <a:p>
            <a:pPr>
              <a:lnSpc>
                <a:spcPct val="120000"/>
              </a:lnSpc>
              <a:spcAft>
                <a:spcPts val="600"/>
              </a:spcAft>
              <a:defRPr sz="1400"/>
            </a:pPr>
            <a:r>
              <a:t>• Info: 0</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Assessment Scope</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Quick target fingerprint completed</a:t>
            </a:r>
          </a:p>
          <a:p>
            <a:pPr>
              <a:lnSpc>
                <a:spcPct val="120000"/>
              </a:lnSpc>
              <a:spcAft>
                <a:spcPts val="600"/>
              </a:spcAft>
              <a:defRPr sz="1400"/>
            </a:pPr>
            <a:r>
              <a:t>• Safe enumeration completed</a:t>
            </a:r>
          </a:p>
          <a:p>
            <a:pPr>
              <a:lnSpc>
                <a:spcPct val="120000"/>
              </a:lnSpc>
              <a:spcAft>
                <a:spcPts val="600"/>
              </a:spcAft>
              <a:defRPr sz="1400"/>
            </a:pPr>
            <a:r>
              <a:t>• Triage findings and context prepared</a:t>
            </a:r>
          </a:p>
          <a:p>
            <a:pPr>
              <a:lnSpc>
                <a:spcPct val="120000"/>
              </a:lnSpc>
              <a:spcAft>
                <a:spcPts val="600"/>
              </a:spcAft>
              <a:defRPr sz="1400"/>
            </a:pPr>
            <a:r>
              <a:t>• Published report and remediation prepared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Findings Summary</a:t>
            </a:r>
          </a:p>
        </p:txBody>
      </p:sp>
      <p:graphicFrame>
        <p:nvGraphicFramePr>
          <p:cNvPr id="7" name="Table 6"/>
          <p:cNvGraphicFramePr>
            <a:graphicFrameLocks noGrp="1"/>
          </p:cNvGraphicFramePr>
          <p:nvPr/>
        </p:nvGraphicFramePr>
        <p:xfrm>
          <a:off x="457200" y="1188720"/>
          <a:ext cx="11277295" cy="2194560"/>
        </p:xfrm>
        <a:graphic>
          <a:graphicData uri="http://schemas.openxmlformats.org/drawingml/2006/table">
            <a:tbl>
              <a:tblPr firstRow="1" bandRow="1">
                <a:tableStyleId>{5C22544A-7EE6-4342-B048-85BDC9FD1C3A}</a:tableStyleId>
              </a:tblPr>
              <a:tblGrid>
                <a:gridCol w="2819323"/>
                <a:gridCol w="2819323"/>
                <a:gridCol w="2819323"/>
                <a:gridCol w="2819326"/>
              </a:tblGrid>
              <a:tr h="548640">
                <a:tc>
                  <a:txBody>
                    <a:bodyPr/>
                    <a:lstStyle/>
                    <a:p>
                      <a:pPr>
                        <a:defRPr b="1" sz="1400">
                          <a:solidFill>
                            <a:srgbClr val="F8F9FA"/>
                          </a:solidFill>
                        </a:defRPr>
                      </a:pPr>
                      <a:r>
                        <a:t>ID</a:t>
                      </a:r>
                    </a:p>
                  </a:txBody>
                  <a:tcPr>
                    <a:solidFill>
                      <a:srgbClr val="58B847"/>
                    </a:solidFill>
                  </a:tcPr>
                </a:tc>
                <a:tc>
                  <a:txBody>
                    <a:bodyPr/>
                    <a:lstStyle/>
                    <a:p>
                      <a:pPr>
                        <a:defRPr b="1" sz="1400">
                          <a:solidFill>
                            <a:srgbClr val="F8F9FA"/>
                          </a:solidFill>
                        </a:defRPr>
                      </a:pPr>
                      <a:r>
                        <a:t>Severity</a:t>
                      </a:r>
                    </a:p>
                  </a:txBody>
                  <a:tcPr>
                    <a:solidFill>
                      <a:srgbClr val="58B847"/>
                    </a:solidFill>
                  </a:tcPr>
                </a:tc>
                <a:tc>
                  <a:txBody>
                    <a:bodyPr/>
                    <a:lstStyle/>
                    <a:p>
                      <a:pPr>
                        <a:defRPr b="1" sz="1400">
                          <a:solidFill>
                            <a:srgbClr val="F8F9FA"/>
                          </a:solidFill>
                        </a:defRPr>
                      </a:pPr>
                      <a:r>
                        <a:t>CVSS</a:t>
                      </a:r>
                    </a:p>
                  </a:txBody>
                  <a:tcPr>
                    <a:solidFill>
                      <a:srgbClr val="58B847"/>
                    </a:solidFill>
                  </a:tcPr>
                </a:tc>
                <a:tc>
                  <a:txBody>
                    <a:bodyPr/>
                    <a:lstStyle/>
                    <a:p>
                      <a:pPr>
                        <a:defRPr b="1" sz="1400">
                          <a:solidFill>
                            <a:srgbClr val="F8F9FA"/>
                          </a:solidFill>
                        </a:defRPr>
                      </a:pPr>
                      <a:r>
                        <a:t>Finding</a:t>
                      </a:r>
                    </a:p>
                  </a:txBody>
                  <a:tcPr>
                    <a:solidFill>
                      <a:srgbClr val="58B847"/>
                    </a:solidFill>
                  </a:tcPr>
                </a:tc>
              </a:tr>
              <a:tr h="548640">
                <a:tc>
                  <a:txBody>
                    <a:bodyPr/>
                    <a:lstStyle/>
                    <a:p>
                      <a:pPr>
                        <a:defRPr sz="1200"/>
                      </a:pPr>
                      <a:r>
                        <a:t>PHX-V02</a:t>
                      </a:r>
                    </a:p>
                  </a:txBody>
                  <a:tcPr/>
                </a:tc>
                <a:tc>
                  <a:txBody>
                    <a:bodyPr/>
                    <a:lstStyle/>
                    <a:p>
                      <a:pPr>
                        <a:defRPr sz="1200" b="1">
                          <a:solidFill>
                            <a:srgbClr val="FD7E14"/>
                          </a:solidFill>
                        </a:defRPr>
                      </a:pPr>
                      <a:r>
                        <a:t>HIGH</a:t>
                      </a:r>
                    </a:p>
                  </a:txBody>
                  <a:tcPr/>
                </a:tc>
                <a:tc>
                  <a:txBody>
                    <a:bodyPr/>
                    <a:lstStyle/>
                    <a:p>
                      <a:pPr>
                        <a:defRPr sz="1200"/>
                      </a:pPr>
                      <a:r>
                        <a:t>7.3</a:t>
                      </a:r>
                    </a:p>
                  </a:txBody>
                  <a:tcPr/>
                </a:tc>
                <a:tc>
                  <a:txBody>
                    <a:bodyPr/>
                    <a:lstStyle/>
                    <a:p>
                      <a:pPr>
                        <a:defRPr sz="1200"/>
                      </a:pPr>
                      <a:r>
                        <a:t>Fail-open local access after</a:t>
                      </a:r>
                    </a:p>
                  </a:txBody>
                  <a:tcPr/>
                </a:tc>
              </a:tr>
              <a:tr h="548640">
                <a:tc>
                  <a:txBody>
                    <a:bodyPr/>
                    <a:lstStyle/>
                    <a:p>
                      <a:pPr>
                        <a:defRPr sz="1200"/>
                      </a:pPr>
                      <a:r>
                        <a:t>PHX-V03</a:t>
                      </a:r>
                    </a:p>
                  </a:txBody>
                  <a:tcPr/>
                </a:tc>
                <a:tc>
                  <a:txBody>
                    <a:bodyPr/>
                    <a:lstStyle/>
                    <a:p>
                      <a:pPr>
                        <a:defRPr sz="1200" b="1">
                          <a:solidFill>
                            <a:srgbClr val="FD7E14"/>
                          </a:solidFill>
                        </a:defRPr>
                      </a:pPr>
                      <a:r>
                        <a:t>HIGH</a:t>
                      </a:r>
                    </a:p>
                  </a:txBody>
                  <a:tcPr/>
                </a:tc>
                <a:tc>
                  <a:txBody>
                    <a:bodyPr/>
                    <a:lstStyle/>
                    <a:p>
                      <a:pPr>
                        <a:defRPr sz="1200"/>
                      </a:pPr>
                      <a:r>
                        <a:t>7.1</a:t>
                      </a:r>
                    </a:p>
                  </a:txBody>
                  <a:tcPr/>
                </a:tc>
                <a:tc>
                  <a:txBody>
                    <a:bodyPr/>
                    <a:lstStyle/>
                    <a:p>
                      <a:pPr>
                        <a:defRPr sz="1200"/>
                      </a:pPr>
                      <a:r>
                        <a:t>Sensitive provisioning artifact exposure</a:t>
                      </a:r>
                    </a:p>
                  </a:txBody>
                  <a:tcPr/>
                </a:tc>
              </a:tr>
              <a:tr h="548640">
                <a:tc>
                  <a:txBody>
                    <a:bodyPr/>
                    <a:lstStyle/>
                    <a:p>
                      <a:pPr>
                        <a:defRPr sz="1200"/>
                      </a:pPr>
                      <a:r>
                        <a:t>PHX-V01</a:t>
                      </a:r>
                    </a:p>
                  </a:txBody>
                  <a:tcPr/>
                </a:tc>
                <a:tc>
                  <a:txBody>
                    <a:bodyPr/>
                    <a:lstStyle/>
                    <a:p>
                      <a:pPr>
                        <a:defRPr sz="1200">
                          <a:solidFill>
                            <a:srgbClr val="FFC107"/>
                          </a:solidFill>
                        </a:defRPr>
                      </a:pPr>
                      <a:r>
                        <a:t>MEDIUM</a:t>
                      </a:r>
                    </a:p>
                  </a:txBody>
                  <a:tcPr/>
                </a:tc>
                <a:tc>
                  <a:txBody>
                    <a:bodyPr/>
                    <a:lstStyle/>
                    <a:p>
                      <a:pPr>
                        <a:defRPr sz="1200"/>
                      </a:pPr>
                      <a:r>
                        <a:t>6.8</a:t>
                      </a:r>
                    </a:p>
                  </a:txBody>
                  <a:tcPr/>
                </a:tc>
                <a:tc>
                  <a:txBody>
                    <a:bodyPr/>
                    <a:lstStyle/>
                    <a:p>
                      <a:pPr>
                        <a:defRPr sz="1200"/>
                      </a:pPr>
                      <a:r>
                        <a:t>Storage-interface-dependent</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FD7E14"/>
                </a:solidFill>
              </a:defRPr>
            </a:pPr>
            <a:r>
              <a:t>Severity: HIGH | CVSS: 7.3 | Status: reported</a:t>
            </a:r>
          </a:p>
          <a:p>
            <a:pPr>
              <a:lnSpc>
                <a:spcPct val="145000"/>
              </a:lnSpc>
              <a:spcAft>
                <a:spcPts val="800"/>
              </a:spcAft>
              <a:defRPr sz="1800">
                <a:solidFill>
                  <a:srgbClr val="07172F"/>
                </a:solidFill>
              </a:defRPr>
            </a:pPr>
            <a:r>
              <a:t>Affected: playerv2-phoenix device, hardware-check.service, local GUI and shell access paths</a:t>
            </a:r>
          </a:p>
          <a:p>
            <a:pPr>
              <a:lnSpc>
                <a:spcPct val="145000"/>
              </a:lnSpc>
              <a:spcAft>
                <a:spcPts val="800"/>
              </a:spcAft>
              <a:defRPr sz="1800">
                <a:solidFill>
                  <a:srgbClr val="07172F"/>
                </a:solidFill>
              </a:defRPr>
            </a:pPr>
            <a:r>
              <a:t>CVSS Version: 4.0</a:t>
            </a:r>
          </a:p>
          <a:p>
            <a:pPr>
              <a:lnSpc>
                <a:spcPct val="145000"/>
              </a:lnSpc>
              <a:spcAft>
                <a:spcPts val="800"/>
              </a:spcAft>
              <a:defRPr sz="1800">
                <a:solidFill>
                  <a:srgbClr val="07172F"/>
                </a:solidFill>
              </a:defRPr>
            </a:pPr>
            <a:r>
              <a:t>Label: CVSS-B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Vector: CVSS:4.0/AV:P/AC:L/AT:N/PR:N/UI:N/VC:H/VI:H/VA:L/SC:N/SI:N/SA:N</a:t>
            </a:r>
          </a:p>
          <a:p>
            <a:pPr>
              <a:lnSpc>
                <a:spcPct val="145000"/>
              </a:lnSpc>
              <a:spcAft>
                <a:spcPts val="800"/>
              </a:spcAft>
              <a:defRPr sz="1800">
                <a:solidFill>
                  <a:srgbClr val="07172F"/>
                </a:solidFill>
              </a:defRPr>
            </a:pPr>
            <a:r>
              <a:t>Rationale: Physical access is required, but the attacker does not need existing credentials or user participation. Once the enforcement component crashes, the device preserves local shell and GUI access instead of failing safely, resulting in direct confidentiality and integrity exposure on the vulnerable system</a:t>
            </a:r>
          </a:p>
          <a:p>
            <a:pPr>
              <a:lnSpc>
                <a:spcPct val="145000"/>
              </a:lnSpc>
              <a:spcAft>
                <a:spcPts val="800"/>
              </a:spcAft>
              <a:defRPr sz="1800">
                <a:solidFill>
                  <a:srgbClr val="07172F"/>
                </a:solidFill>
              </a:defRPr>
            </a:pPr>
            <a:r>
              <a:t>Assumptions: Base-only scoring was used. Threat and Environmental metrics were not enriched. This finding is intentionally kept separate from PHX-V01 and scored as the fail-open consequence after the authorization path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Description:</a:t>
            </a:r>
          </a:p>
          <a:p>
            <a:pPr>
              <a:lnSpc>
                <a:spcPct val="145000"/>
              </a:lnSpc>
              <a:spcAft>
                <a:spcPts val="800"/>
              </a:spcAft>
              <a:defRPr sz="1800">
                <a:solidFill>
                  <a:srgbClr val="07172F"/>
                </a:solidFill>
              </a:defRPr>
            </a:pPr>
            <a:r>
              <a:t>• When Phoenix authorization logic encountered the missing mmcblk0 CID path, the device did not fail safely. Instead, the lock enforcement component crashed and preserved interactive local access to the underlying OS environment</a:t>
            </a:r>
          </a:p>
          <a:p>
            <a:pPr>
              <a:lnSpc>
                <a:spcPct val="145000"/>
              </a:lnSpc>
              <a:spcAft>
                <a:spcPts val="800"/>
              </a:spcAft>
              <a:defRPr sz="1800">
                <a:solidFill>
                  <a:srgbClr val="07172F"/>
                </a:solidFill>
              </a:defRPr>
            </a:pPr>
            <a:r>
              <a:t>Impact:</a:t>
            </a:r>
          </a:p>
          <a:p>
            <a:pPr>
              <a:lnSpc>
                <a:spcPct val="145000"/>
              </a:lnSpc>
              <a:spcAft>
                <a:spcPts val="800"/>
              </a:spcAft>
              <a:defRPr sz="1800">
                <a:solidFill>
                  <a:srgbClr val="07172F"/>
                </a:solidFill>
              </a:defRPr>
            </a:pPr>
            <a:r>
              <a:t>• A local attacker can preserve a usable foothold on the player after the authorization component crashes. In this engagement, that foothold enabled access to shell history, trust inputs, service logic, vault metadata, and later extension into protected-vault access and secret recovery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PHX-V02 — Fail-open local access after hardware-check crash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Remediation:</a:t>
            </a:r>
          </a:p>
          <a:p>
            <a:pPr>
              <a:lnSpc>
                <a:spcPct val="145000"/>
              </a:lnSpc>
              <a:spcAft>
                <a:spcPts val="800"/>
              </a:spcAft>
              <a:defRPr sz="1800">
                <a:solidFill>
                  <a:srgbClr val="07172F"/>
                </a:solidFill>
              </a:defRPr>
            </a:pPr>
            <a:r>
              <a:t>• Implement explicit fail-closed behavior for all authorization-check exceptions. Force the device into a minimal locked state when hardware identity cannot be validated. Block local shell and GUI access until an authenticated recovery procedure completes</a:t>
            </a:r>
          </a:p>
          <a:p>
            <a:pPr>
              <a:lnSpc>
                <a:spcPct val="145000"/>
              </a:lnSpc>
              <a:spcAft>
                <a:spcPts val="800"/>
              </a:spcAft>
              <a:defRPr sz="1800">
                <a:solidFill>
                  <a:srgbClr val="07172F"/>
                </a:solidFill>
              </a:defRPr>
            </a:pPr>
            <a:r>
              <a:t>Hardening:</a:t>
            </a:r>
          </a:p>
          <a:p>
            <a:pPr>
              <a:lnSpc>
                <a:spcPct val="145000"/>
              </a:lnSpc>
              <a:spcAft>
                <a:spcPts val="800"/>
              </a:spcAft>
              <a:defRPr sz="1800">
                <a:solidFill>
                  <a:srgbClr val="07172F"/>
                </a:solidFill>
              </a:defRPr>
            </a:pPr>
            <a:r>
              <a:t>• Isolate the lock path from nonessential UI startup behavior. Prevent interactive local sessions from appearing before authorization completes. Add integration tests that validate crash handling, missing-path handling, and dependency-failure handling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FD7E14"/>
                </a:solidFill>
              </a:defRPr>
            </a:pPr>
            <a:r>
              <a:t>Severity: HIGH | CVSS: 7.1 | Status: reported</a:t>
            </a:r>
          </a:p>
          <a:p>
            <a:pPr>
              <a:lnSpc>
                <a:spcPct val="145000"/>
              </a:lnSpc>
              <a:spcAft>
                <a:spcPts val="800"/>
              </a:spcAft>
              <a:defRPr b="1" sz="1800">
                <a:solidFill>
                  <a:srgbClr val="28A745"/>
                </a:solidFill>
              </a:defRPr>
            </a:pPr>
            <a:r>
              <a:t>Affected: /home/pi/.bash_history, provisioning workflow, related setup secrets and deployment material</a:t>
            </a:r>
          </a:p>
          <a:p>
            <a:pPr>
              <a:lnSpc>
                <a:spcPct val="145000"/>
              </a:lnSpc>
              <a:spcAft>
                <a:spcPts val="800"/>
              </a:spcAft>
              <a:defRPr sz="1800">
                <a:solidFill>
                  <a:srgbClr val="07172F"/>
                </a:solidFill>
              </a:defRPr>
            </a:pPr>
            <a:r>
              <a:t>CVSS Version: 4.0</a:t>
            </a:r>
          </a:p>
          <a:p>
            <a:pPr>
              <a:lnSpc>
                <a:spcPct val="145000"/>
              </a:lnSpc>
              <a:spcAft>
                <a:spcPts val="800"/>
              </a:spcAft>
              <a:defRPr sz="1800">
                <a:solidFill>
                  <a:srgbClr val="07172F"/>
                </a:solidFill>
              </a:defRPr>
            </a:pPr>
            <a:r>
              <a:t>Label: CVSS-B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Vector: CVSS:4.0/AV:L/AC:L/AT:N/PR:L/UI:N/VC:H/VI:H/VA:L/SC:N/SI:N/SA:N</a:t>
            </a:r>
          </a:p>
          <a:p>
            <a:pPr>
              <a:lnSpc>
                <a:spcPct val="145000"/>
              </a:lnSpc>
              <a:spcAft>
                <a:spcPts val="800"/>
              </a:spcAft>
              <a:defRPr b="1" sz="1800">
                <a:solidFill>
                  <a:srgbClr val="28A745"/>
                </a:solidFill>
              </a:defRPr>
            </a:pPr>
            <a:r>
              <a:t>Rationale: The attacker needs local access to the shell history context, which in this engagement was realistically obtainable after the fail-open path. No extra victim interaction is needed, and the recovered provisioning command exposes operationally useful secret material and deployment workflow details that may support further compromise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Assumptions: Base-only scoring was used. Threat and Environmental metrics were not enriched. This score assumes the exposed provisioning passphrase and command structure remain operationally useful enough to support attack chaining, as judged from current engagement context</a:t>
            </a:r>
          </a:p>
          <a:p>
            <a:pPr>
              <a:lnSpc>
                <a:spcPct val="145000"/>
              </a:lnSpc>
              <a:spcAft>
                <a:spcPts val="800"/>
              </a:spcAft>
              <a:defRPr sz="1800">
                <a:solidFill>
                  <a:srgbClr val="07172F"/>
                </a:solidFill>
              </a:defRPr>
            </a:pPr>
            <a:r>
              <a:t>Description:</a:t>
            </a:r>
          </a:p>
          <a:p>
            <a:pPr>
              <a:lnSpc>
                <a:spcPct val="145000"/>
              </a:lnSpc>
              <a:spcAft>
                <a:spcPts val="800"/>
              </a:spcAft>
              <a:defRPr sz="1800">
                <a:solidFill>
                  <a:srgbClr val="07172F"/>
                </a:solidFill>
              </a:defRPr>
            </a:pPr>
            <a:r>
              <a:t>• Local shell history retained a plaintext provisioning command containing a remote setup host and passphrase. Because PHX-V02 preserved local shell access, that history became directly accessible during the engagement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Impact:</a:t>
            </a:r>
          </a:p>
          <a:p>
            <a:pPr>
              <a:lnSpc>
                <a:spcPct val="145000"/>
              </a:lnSpc>
              <a:spcAft>
                <a:spcPts val="800"/>
              </a:spcAft>
              <a:defRPr b="1" sz="1800">
                <a:solidFill>
                  <a:srgbClr val="28A745"/>
                </a:solidFill>
              </a:defRPr>
            </a:pPr>
            <a:r>
              <a:t>• A local attacker with shell access can recover secret-bearing provisioning material, deployment workflow knowledge, and a potentially reusable setup passphrase. This may enable reinstallation abuse, recovery-path abuse, environment cloning, or related attack chaining</a:t>
            </a:r>
          </a:p>
          <a:p>
            <a:pPr>
              <a:lnSpc>
                <a:spcPct val="145000"/>
              </a:lnSpc>
              <a:spcAft>
                <a:spcPts val="800"/>
              </a:spcAft>
              <a:defRPr sz="1800">
                <a:solidFill>
                  <a:srgbClr val="07172F"/>
                </a:solidFill>
              </a:defRPr>
            </a:pPr>
            <a:r>
              <a:t>Remediation:</a:t>
            </a:r>
          </a:p>
          <a:p>
            <a:pPr>
              <a:lnSpc>
                <a:spcPct val="145000"/>
              </a:lnSpc>
              <a:spcAft>
                <a:spcPts val="800"/>
              </a:spcAft>
              <a:defRPr sz="1800">
                <a:solidFill>
                  <a:srgbClr val="07172F"/>
                </a:solidFill>
              </a:defRPr>
            </a:pPr>
            <a:r>
              <a:t>• Remove secret-bearing provisioning commands from shell history. Rotate any setup passphrases, bootstrap commands, and related deployment credentials that may still be valid. Move provisioning secrets into protected, noninteractive channels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PHX-V03 — Sensitive provisioning artifact exposure in shell history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Hardening:</a:t>
            </a:r>
          </a:p>
          <a:p>
            <a:pPr>
              <a:lnSpc>
                <a:spcPct val="145000"/>
              </a:lnSpc>
              <a:spcAft>
                <a:spcPts val="800"/>
              </a:spcAft>
              <a:defRPr b="1" sz="1800">
                <a:solidFill>
                  <a:srgbClr val="28A745"/>
                </a:solidFill>
              </a:defRPr>
            </a:pPr>
            <a:r>
              <a:t>• Disable or strictly control shell history for privileged provisioning workflows. Use one-time, device-bound, or short-lived bootstrap material instead of static passphrases. Audit historical images and field workflows for similar retained provisioning artifacts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FFC107"/>
                </a:solidFill>
              </a:defRPr>
            </a:pPr>
            <a:r>
              <a:t>Severity: MEDIUM | CVSS: 6.8 | Status: reported</a:t>
            </a:r>
          </a:p>
          <a:p>
            <a:pPr>
              <a:lnSpc>
                <a:spcPct val="145000"/>
              </a:lnSpc>
              <a:spcAft>
                <a:spcPts val="800"/>
              </a:spcAft>
              <a:defRPr sz="1800">
                <a:solidFill>
                  <a:srgbClr val="07172F"/>
                </a:solidFill>
              </a:defRPr>
            </a:pPr>
            <a:r>
              <a:t>Affected: playerv2-phoenix device, hardware-check.service, vault-mount.service</a:t>
            </a:r>
          </a:p>
          <a:p>
            <a:pPr>
              <a:lnSpc>
                <a:spcPct val="145000"/>
              </a:lnSpc>
              <a:spcAft>
                <a:spcPts val="800"/>
              </a:spcAft>
              <a:defRPr sz="1800">
                <a:solidFill>
                  <a:srgbClr val="07172F"/>
                </a:solidFill>
              </a:defRPr>
            </a:pPr>
            <a:r>
              <a:t>CVSS Version: 4.0</a:t>
            </a:r>
          </a:p>
          <a:p>
            <a:pPr>
              <a:lnSpc>
                <a:spcPct val="145000"/>
              </a:lnSpc>
              <a:spcAft>
                <a:spcPts val="800"/>
              </a:spcAft>
              <a:defRPr sz="1800">
                <a:solidFill>
                  <a:srgbClr val="07172F"/>
                </a:solidFill>
              </a:defRPr>
            </a:pPr>
            <a:r>
              <a:t>Label: CVSS-B</a:t>
            </a:r>
          </a:p>
          <a:p>
            <a:pPr>
              <a:lnSpc>
                <a:spcPct val="145000"/>
              </a:lnSpc>
              <a:spcAft>
                <a:spcPts val="800"/>
              </a:spcAft>
              <a:defRPr sz="1800">
                <a:solidFill>
                  <a:srgbClr val="07172F"/>
                </a:solidFill>
              </a:defRPr>
            </a:pPr>
            <a:r>
              <a:t>Vector: CVSS:4.0/AV:P/AC:L/AT:N/PR:N/UI:N/VC:H/VI:L/VA:L/SC:N/SI:N/SA:N</a:t>
            </a:r>
          </a:p>
          <a:p>
            <a:pPr>
              <a:lnSpc>
                <a:spcPct val="145000"/>
              </a:lnSpc>
              <a:spcAft>
                <a:spcPts val="800"/>
              </a:spcAft>
              <a:defRPr sz="1800">
                <a:solidFill>
                  <a:srgbClr val="07172F"/>
                </a:solidFill>
              </a:defRPr>
            </a:pPr>
            <a:r>
              <a:t>Rationale: The attacker needs physical access to present the same protected media through a USB SD path, but no prior privileges or victim interaction are required. The bypass undermines the intended authorization boundary and can expose sensitive local system access conditions on the vulnerable device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Assumptions: Base-only scoring was used. Threat and Environmental metrics were not enriched. This score treats the vulnerability as the authorization-bypass condition itself and keeps the more direct fail-open access consequence in PHX-V02</a:t>
            </a:r>
          </a:p>
          <a:p>
            <a:pPr>
              <a:lnSpc>
                <a:spcPct val="145000"/>
              </a:lnSpc>
              <a:spcAft>
                <a:spcPts val="800"/>
              </a:spcAft>
              <a:defRPr sz="1800">
                <a:solidFill>
                  <a:srgbClr val="07172F"/>
                </a:solidFill>
              </a:defRPr>
            </a:pPr>
            <a:r>
              <a:t>Description:</a:t>
            </a:r>
          </a:p>
          <a:p>
            <a:pPr>
              <a:lnSpc>
                <a:spcPct val="145000"/>
              </a:lnSpc>
              <a:spcAft>
                <a:spcPts val="800"/>
              </a:spcAft>
              <a:defRPr sz="1800">
                <a:solidFill>
                  <a:srgbClr val="07172F"/>
                </a:solidFill>
              </a:defRPr>
            </a:pPr>
            <a:r>
              <a:t>• Phoenix authorization relied on a fixed Linux storage identity assumption rather than a transport-independent identity check for the protected media. The same trusted microSD card was accepted into a materially different runtime state when presented through an external USB SD reader instead of the Pi's native SD slot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Impact:</a:t>
            </a:r>
          </a:p>
          <a:p>
            <a:pPr>
              <a:lnSpc>
                <a:spcPct val="145000"/>
              </a:lnSpc>
              <a:spcAft>
                <a:spcPts val="800"/>
              </a:spcAft>
              <a:defRPr sz="1800">
                <a:solidFill>
                  <a:srgbClr val="07172F"/>
                </a:solidFill>
              </a:defRPr>
            </a:pPr>
            <a:r>
              <a:t>• A local attacker with physical device access can bypass the intended hardware-bound authorization condition by changing only how the same media is presented to the system. This weakens the local trust boundary and creates the conditions for a more serious fail-open foothold</a:t>
            </a:r>
          </a:p>
          <a:p>
            <a:pPr>
              <a:lnSpc>
                <a:spcPct val="145000"/>
              </a:lnSpc>
              <a:spcAft>
                <a:spcPts val="800"/>
              </a:spcAft>
              <a:defRPr sz="1800">
                <a:solidFill>
                  <a:srgbClr val="07172F"/>
                </a:solidFill>
              </a:defRPr>
            </a:pPr>
            <a:r>
              <a:t>Remediation:</a:t>
            </a:r>
          </a:p>
          <a:p>
            <a:pPr>
              <a:lnSpc>
                <a:spcPct val="145000"/>
              </a:lnSpc>
              <a:spcAft>
                <a:spcPts val="800"/>
              </a:spcAft>
              <a:defRPr sz="1800">
                <a:solidFill>
                  <a:srgbClr val="07172F"/>
                </a:solidFill>
              </a:defRPr>
            </a:pPr>
            <a:r>
              <a:t>• Refactor authorization logic to identify the protected media through stable device attributes independent of Linux block-device naming. Validate the actual trusted media identity across supported presentation modes. Treat inability to confirm the trusted media identity as a secure denial condition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PHX-V01 — Storage-interface-dependent authorization failure (cont.)</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sz="1800">
                <a:solidFill>
                  <a:srgbClr val="07172F"/>
                </a:solidFill>
              </a:defRPr>
            </a:pPr>
            <a:r>
              <a:t>Hardening:</a:t>
            </a:r>
          </a:p>
          <a:p>
            <a:pPr>
              <a:lnSpc>
                <a:spcPct val="145000"/>
              </a:lnSpc>
              <a:spcAft>
                <a:spcPts val="800"/>
              </a:spcAft>
              <a:defRPr sz="1800">
                <a:solidFill>
                  <a:srgbClr val="07172F"/>
                </a:solidFill>
              </a:defRPr>
            </a:pPr>
            <a:r>
              <a:t>• Centralize media-identity handling so trust logic is not duplicated across multiple scripts. Add regression tests for alternate storage presentation paths, including USB-attached SD readers. Add explicit negative-path tests that prove identity-read failures fail closed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PHX-V02: Implement explicit fail-closed behavior for all authorization-check exceptions</a:t>
            </a:r>
          </a:p>
          <a:p>
            <a:pPr>
              <a:lnSpc>
                <a:spcPct val="120000"/>
              </a:lnSpc>
              <a:spcAft>
                <a:spcPts val="600"/>
              </a:spcAft>
              <a:defRPr sz="1400"/>
            </a:pPr>
            <a:r>
              <a:t>• PHX-V03: Remove secret-bearing provisioning commands from shell history</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PHX-V01: Remediate the issue and confirm the fix in a follow-up validation scan</a:t>
            </a:r>
          </a:p>
          <a:p>
            <a:pPr>
              <a:lnSpc>
                <a:spcPct val="120000"/>
              </a:lnSpc>
              <a:spcAft>
                <a:spcPts val="600"/>
              </a:spcAft>
              <a:defRPr sz="1400"/>
            </a:pPr>
            <a:r>
              <a:t>• Authorization architecture: Reduce unnecessary exposure and monitor for unexpected access</a:t>
            </a:r>
          </a:p>
          <a:p>
            <a:pPr>
              <a:lnSpc>
                <a:spcPct val="120000"/>
              </a:lnSpc>
              <a:spcAft>
                <a:spcPts val="600"/>
              </a:spcAft>
              <a:defRPr sz="1400"/>
            </a:pPr>
            <a:r>
              <a:t>• Failure handling: Reduce unnecessary exposure and monitor for unexpected access</a:t>
            </a:r>
          </a:p>
          <a:p>
            <a:pPr>
              <a:lnSpc>
                <a:spcPct val="120000"/>
              </a:lnSpc>
              <a:spcAft>
                <a:spcPts val="600"/>
              </a:spcAft>
              <a:defRPr sz="1400"/>
            </a:pPr>
            <a:r>
              <a:t>• Secret management: Reduce unnecessary exposure and monitor for unexpected access</a:t>
            </a:r>
          </a:p>
          <a:p>
            <a:pPr>
              <a:lnSpc>
                <a:spcPct val="120000"/>
              </a:lnSpc>
              <a:spcAft>
                <a:spcPts val="600"/>
              </a:spcAft>
              <a:defRPr sz="1400"/>
            </a:pPr>
            <a:r>
              <a:t>• Vault and key protection: Reduce unnecessary exposure and monitor for unexpected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200" b="1">
                <a:solidFill>
                  <a:srgbClr val="07172F"/>
                </a:solidFill>
              </a:defRPr>
            </a:pPr>
            <a:r>
              <a:t>Remediation and Retest Roadmap (2/2)</a:t>
            </a:r>
          </a:p>
        </p:txBody>
      </p:sp>
      <p:sp>
        <p:nvSpPr>
          <p:cNvPr id="7" name="Rectangle 6"/>
          <p:cNvSpPr/>
          <p:nvPr/>
        </p:nvSpPr>
        <p:spPr>
          <a:xfrm>
            <a:off x="6062472" y="1234440"/>
            <a:ext cx="27432" cy="5029200"/>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394960" cy="457200"/>
          </a:xfrm>
          <a:prstGeom prst="rect">
            <a:avLst/>
          </a:prstGeom>
          <a:noFill/>
        </p:spPr>
        <p:txBody>
          <a:bodyPr wrap="none">
            <a:spAutoFit/>
          </a:bodyPr>
          <a:lstStyle/>
          <a:p>
            <a:pPr>
              <a:defRPr sz="2000" b="1">
                <a:solidFill>
                  <a:srgbClr val="07172F"/>
                </a:solidFill>
              </a:defRPr>
            </a:pPr>
            <a:r>
              <a:t>Immediate Priority</a:t>
            </a:r>
          </a:p>
        </p:txBody>
      </p:sp>
      <p:sp>
        <p:nvSpPr>
          <p:cNvPr id="9" name="TextBox 8"/>
          <p:cNvSpPr txBox="1"/>
          <p:nvPr/>
        </p:nvSpPr>
        <p:spPr>
          <a:xfrm>
            <a:off x="457200" y="1737360"/>
            <a:ext cx="5394960" cy="4572000"/>
          </a:xfrm>
          <a:prstGeom prst="rect">
            <a:avLst/>
          </a:prstGeom>
          <a:noFill/>
        </p:spPr>
        <p:txBody>
          <a:bodyPr wrap="square" lIns="0" rIns="0" tIns="0" bIns="0" anchor="t">
            <a:spAutoFit/>
          </a:bodyPr>
          <a:lstStyle/>
          <a:p>
            <a:pPr>
              <a:lnSpc>
                <a:spcPct val="120000"/>
              </a:lnSpc>
              <a:spcAft>
                <a:spcPts val="600"/>
              </a:spcAft>
              <a:defRPr sz="1400"/>
            </a:pPr>
            <a:r>
              <a:t>• No additional immediate actions</a:t>
            </a:r>
          </a:p>
        </p:txBody>
      </p:sp>
      <p:sp>
        <p:nvSpPr>
          <p:cNvPr id="10" name="TextBox 9"/>
          <p:cNvSpPr txBox="1"/>
          <p:nvPr/>
        </p:nvSpPr>
        <p:spPr>
          <a:xfrm>
            <a:off x="6309360" y="1188720"/>
            <a:ext cx="5394960" cy="457200"/>
          </a:xfrm>
          <a:prstGeom prst="rect">
            <a:avLst/>
          </a:prstGeom>
          <a:noFill/>
        </p:spPr>
        <p:txBody>
          <a:bodyPr wrap="none">
            <a:spAutoFit/>
          </a:bodyPr>
          <a:lstStyle/>
          <a:p>
            <a:pPr>
              <a:defRPr sz="2000" b="1">
                <a:solidFill>
                  <a:srgbClr val="07172F"/>
                </a:solidFill>
              </a:defRPr>
            </a:pPr>
            <a:r>
              <a:t>Planned Hardening</a:t>
            </a:r>
          </a:p>
        </p:txBody>
      </p:sp>
      <p:sp>
        <p:nvSpPr>
          <p:cNvPr id="11" name="TextBox 10"/>
          <p:cNvSpPr txBox="1"/>
          <p:nvPr/>
        </p:nvSpPr>
        <p:spPr>
          <a:xfrm>
            <a:off x="6309360" y="1737360"/>
            <a:ext cx="5394960" cy="4572000"/>
          </a:xfrm>
          <a:prstGeom prst="rect">
            <a:avLst/>
          </a:prstGeom>
          <a:noFill/>
        </p:spPr>
        <p:txBody>
          <a:bodyPr wrap="square" lIns="0" rIns="0" tIns="0" bIns="0" anchor="t">
            <a:spAutoFit/>
          </a:bodyPr>
          <a:lstStyle/>
          <a:p>
            <a:pPr>
              <a:lnSpc>
                <a:spcPct val="120000"/>
              </a:lnSpc>
              <a:spcAft>
                <a:spcPts val="600"/>
              </a:spcAft>
              <a:defRPr sz="1400"/>
            </a:pPr>
            <a:r>
              <a:t>• Recovery-path security: Reduce unnecessary exposure and monitor for unexpected access</a:t>
            </a:r>
          </a:p>
          <a:p>
            <a:pPr>
              <a:lnSpc>
                <a:spcPct val="120000"/>
              </a:lnSpc>
              <a:spcAft>
                <a:spcPts val="600"/>
              </a:spcAft>
              <a:defRPr sz="1400"/>
            </a:pPr>
            <a:r>
              <a:t>• Startup and kiosk hardening: Reduce unnecessary exposure and monitor for unexpected access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58B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57032" y="164592"/>
            <a:ext cx="3246120" cy="530352"/>
          </a:xfrm>
          <a:prstGeom prst="roundRect">
            <a:avLst/>
          </a:prstGeom>
          <a:solidFill>
            <a:srgbClr val="071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compass-logo.png"/>
          <p:cNvPicPr>
            <a:picLocks noChangeAspect="1"/>
          </p:cNvPicPr>
          <p:nvPr/>
        </p:nvPicPr>
        <p:blipFill>
          <a:blip r:embed="rId2"/>
          <a:stretch>
            <a:fillRect/>
          </a:stretch>
        </p:blipFill>
        <p:spPr>
          <a:xfrm>
            <a:off x="8366760" y="201168"/>
            <a:ext cx="3017520" cy="526312"/>
          </a:xfrm>
          <a:prstGeom prst="rect">
            <a:avLst/>
          </a:prstGeom>
        </p:spPr>
      </p:pic>
      <p:sp>
        <p:nvSpPr>
          <p:cNvPr id="6" name="TextBox 5"/>
          <p:cNvSpPr txBox="1"/>
          <p:nvPr/>
        </p:nvSpPr>
        <p:spPr>
          <a:xfrm>
            <a:off x="548640" y="438912"/>
            <a:ext cx="7680960" cy="731520"/>
          </a:xfrm>
          <a:prstGeom prst="rect">
            <a:avLst/>
          </a:prstGeom>
          <a:noFill/>
        </p:spPr>
        <p:txBody>
          <a:bodyPr wrap="none">
            <a:spAutoFit/>
          </a:bodyPr>
          <a:lstStyle/>
          <a:p>
            <a:pPr>
              <a:defRPr sz="3000" b="1">
                <a:solidFill>
                  <a:srgbClr val="07172F"/>
                </a:solidFill>
              </a:defRPr>
            </a:pPr>
            <a:r>
              <a:t>Cleanup, Residual Risk, and Next Steps</a:t>
            </a:r>
          </a:p>
        </p:txBody>
      </p:sp>
      <p:sp>
        <p:nvSpPr>
          <p:cNvPr id="7" name="TextBox 6"/>
          <p:cNvSpPr txBox="1"/>
          <p:nvPr/>
        </p:nvSpPr>
        <p:spPr>
          <a:xfrm>
            <a:off x="640080" y="1325880"/>
            <a:ext cx="10789920" cy="4846320"/>
          </a:xfrm>
          <a:prstGeom prst="rect">
            <a:avLst/>
          </a:prstGeom>
          <a:noFill/>
        </p:spPr>
        <p:txBody>
          <a:bodyPr wrap="square" lIns="0" rIns="0" tIns="0" bIns="0" anchor="t">
            <a:spAutoFit/>
          </a:bodyPr>
          <a:lstStyle/>
          <a:p>
            <a:pPr>
              <a:lnSpc>
                <a:spcPct val="145000"/>
              </a:lnSpc>
              <a:spcAft>
                <a:spcPts val="800"/>
              </a:spcAft>
              <a:defRPr b="1" sz="1800">
                <a:solidFill>
                  <a:srgbClr val="28A745"/>
                </a:solidFill>
              </a:defRPr>
            </a:pPr>
            <a:r>
              <a:t>Cleanup: no target-side cleanup actions were captured by this reporting workflow</a:t>
            </a:r>
          </a:p>
          <a:p>
            <a:pPr>
              <a:lnSpc>
                <a:spcPct val="145000"/>
              </a:lnSpc>
              <a:spcAft>
                <a:spcPts val="800"/>
              </a:spcAft>
              <a:defRPr sz="1800">
                <a:solidFill>
                  <a:srgbClr val="07172F"/>
                </a:solidFill>
              </a:defRPr>
            </a:pPr>
            <a:r>
              <a:t>Residual risk: triage candidates may still indicate real exposure until manually validated and remediated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