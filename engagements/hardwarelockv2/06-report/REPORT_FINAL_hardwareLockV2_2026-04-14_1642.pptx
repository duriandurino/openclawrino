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compass-logo.png"/>
          <p:cNvPicPr>
            <a:picLocks noChangeAspect="1"/>
          </p:cNvPicPr>
          <p:nvPr/>
        </p:nvPicPr>
        <p:blipFill>
          <a:blip r:embed="rId2"/>
          <a:stretch>
            <a:fillRect/>
          </a:stretch>
        </p:blipFill>
        <p:spPr>
          <a:xfrm>
            <a:off x="8366760" y="256032"/>
            <a:ext cx="3017520" cy="526312"/>
          </a:xfrm>
          <a:prstGeom prst="rect">
            <a:avLst/>
          </a:prstGeom>
        </p:spPr>
      </p:pic>
      <p:sp>
        <p:nvSpPr>
          <p:cNvPr id="5" name="Rectangle 4"/>
          <p:cNvSpPr/>
          <p:nvPr/>
        </p:nvSpPr>
        <p:spPr>
          <a:xfrm>
            <a:off x="1097280" y="1508760"/>
            <a:ext cx="9966960" cy="7315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10515600" cy="1371600"/>
          </a:xfrm>
          <a:prstGeom prst="rect">
            <a:avLst/>
          </a:prstGeom>
          <a:noFill/>
        </p:spPr>
        <p:txBody>
          <a:bodyPr wrap="none">
            <a:spAutoFit/>
          </a:bodyPr>
          <a:lstStyle/>
          <a:p>
            <a:pPr algn="ctr">
              <a:defRPr sz="4400" b="1">
                <a:solidFill>
                  <a:srgbClr val="F8F9FA"/>
                </a:solidFill>
              </a:defRPr>
            </a:pPr>
            <a:r>
              <a:t>Pentest Report — hardwareLockV2</a:t>
            </a:r>
          </a:p>
        </p:txBody>
      </p:sp>
      <p:sp>
        <p:nvSpPr>
          <p:cNvPr id="7" name="TextBox 6"/>
          <p:cNvSpPr txBox="1"/>
          <p:nvPr/>
        </p:nvSpPr>
        <p:spPr>
          <a:xfrm>
            <a:off x="822960" y="3657600"/>
            <a:ext cx="10515600" cy="731520"/>
          </a:xfrm>
          <a:prstGeom prst="rect">
            <a:avLst/>
          </a:prstGeom>
          <a:noFill/>
        </p:spPr>
        <p:txBody>
          <a:bodyPr wrap="none">
            <a:spAutoFit/>
          </a:bodyPr>
          <a:lstStyle/>
          <a:p>
            <a:pPr algn="ctr">
              <a:defRPr sz="2400">
                <a:solidFill>
                  <a:srgbClr val="58B847"/>
                </a:solidFill>
              </a:defRPr>
            </a:pPr>
            <a:r>
              <a:t>Security Assessment Results</a:t>
            </a:r>
          </a:p>
        </p:txBody>
      </p:sp>
      <p:sp>
        <p:nvSpPr>
          <p:cNvPr id="8" name="TextBox 7"/>
          <p:cNvSpPr txBox="1"/>
          <p:nvPr/>
        </p:nvSpPr>
        <p:spPr>
          <a:xfrm>
            <a:off x="822960" y="4663440"/>
            <a:ext cx="10515600" cy="457200"/>
          </a:xfrm>
          <a:prstGeom prst="rect">
            <a:avLst/>
          </a:prstGeom>
          <a:noFill/>
        </p:spPr>
        <p:txBody>
          <a:bodyPr wrap="none">
            <a:spAutoFit/>
          </a:bodyPr>
          <a:lstStyle/>
          <a:p>
            <a:pPr algn="ctr">
              <a:defRPr sz="1600">
                <a:solidFill>
                  <a:srgbClr val="ADB5BD"/>
                </a:solidFill>
              </a:defRPr>
            </a:pPr>
            <a:r>
              <a:t>April 14, 2026</a:t>
            </a:r>
          </a:p>
        </p:txBody>
      </p:sp>
      <p:sp>
        <p:nvSpPr>
          <p:cNvPr id="9" name="Rounded Rectangle 8"/>
          <p:cNvSpPr/>
          <p:nvPr/>
        </p:nvSpPr>
        <p:spPr>
          <a:xfrm>
            <a:off x="5029200" y="5486400"/>
            <a:ext cx="2133295" cy="54864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9FA"/>
                </a:solidFill>
              </a:defRPr>
            </a:pPr>
            <a:r>
              <a:t>Risk: MEDIUM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Executive Summary</a:t>
            </a:r>
          </a:p>
        </p:txBody>
      </p:sp>
      <p:sp>
        <p:nvSpPr>
          <p:cNvPr id="7" name="TextBox 6"/>
          <p:cNvSpPr txBox="1"/>
          <p:nvPr/>
        </p:nvSpPr>
        <p:spPr>
          <a:xfrm>
            <a:off x="640080" y="1325880"/>
            <a:ext cx="10789920" cy="4846320"/>
          </a:xfrm>
          <a:prstGeom prst="rect">
            <a:avLst/>
          </a:prstGeom>
          <a:noFill/>
        </p:spPr>
        <p:txBody>
          <a:bodyPr wrap="square">
            <a:spAutoFit/>
          </a:bodyPr>
          <a:lstStyle/>
          <a:p>
            <a:pPr>
              <a:spcAft>
                <a:spcPts val="1200"/>
              </a:spcAft>
              <a:defRPr sz="1800">
                <a:solidFill>
                  <a:srgbClr val="07172F"/>
                </a:solidFill>
              </a:defRPr>
            </a:pPr>
            <a:r>
              <a:t>Target: hardwareLockV2</a:t>
            </a:r>
          </a:p>
          <a:p>
            <a:pPr>
              <a:spcAft>
                <a:spcPts val="1200"/>
              </a:spcAft>
              <a:defRPr sz="1800">
                <a:solidFill>
                  <a:srgbClr val="07172F"/>
                </a:solidFill>
              </a:defRPr>
            </a:pPr>
            <a:r>
              <a:t>Findings: 3 issues identified</a:t>
            </a:r>
          </a:p>
          <a:p>
            <a:pPr>
              <a:spcAft>
                <a:spcPts val="1200"/>
              </a:spcAft>
              <a:defRPr b="1" sz="1800">
                <a:solidFill>
                  <a:srgbClr val="FD7E14"/>
                </a:solidFill>
              </a:defRPr>
            </a:pPr>
            <a:r>
              <a:t>Highest risk: MEDIUM</a:t>
            </a:r>
          </a:p>
          <a:p>
            <a:pPr>
              <a:spcAft>
                <a:spcPts val="1200"/>
              </a:spcAft>
              <a:defRPr sz="1800">
                <a:solidFill>
                  <a:srgbClr val="07172F"/>
                </a:solidFill>
              </a:defRPr>
            </a:pPr>
          </a:p>
          <a:p>
            <a:pPr>
              <a:spcAft>
                <a:spcPts val="1200"/>
              </a:spcAft>
              <a:defRPr b="1" sz="1800">
                <a:solidFill>
                  <a:srgbClr val="FFC107"/>
                </a:solidFill>
              </a:defRPr>
            </a:pPr>
            <a:r>
              <a:t>• F-001 (MEDIUM): Local authorization configuration can be altered via hardware-lock.env</a:t>
            </a:r>
          </a:p>
          <a:p>
            <a:pPr>
              <a:spcAft>
                <a:spcPts val="1200"/>
              </a:spcAft>
              <a:defRPr b="1" sz="1800">
                <a:solidFill>
                  <a:srgbClr val="DC3545"/>
                </a:solidFill>
              </a:defRPr>
            </a:pPr>
            <a:r>
              <a:t>• F-003 (LOW): Phoenix recovery chain is critical but missing from the current image</a:t>
            </a:r>
          </a:p>
          <a:p>
            <a:pPr>
              <a:spcAft>
                <a:spcPts val="1200"/>
              </a:spcAft>
              <a:defRPr sz="1800">
                <a:solidFill>
                  <a:srgbClr val="07172F"/>
                </a:solidFill>
              </a:defRPr>
            </a:pPr>
            <a:r>
              <a:t>• F-002 (INFO): Encrypted vault remained the effective security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Scope, ROE, and Methodology</a:t>
            </a:r>
          </a:p>
        </p:txBody>
      </p:sp>
      <p:sp>
        <p:nvSpPr>
          <p:cNvPr id="7" name="TextBox 6"/>
          <p:cNvSpPr txBox="1"/>
          <p:nvPr/>
        </p:nvSpPr>
        <p:spPr>
          <a:xfrm>
            <a:off x="640080" y="1325880"/>
            <a:ext cx="10789920" cy="4846320"/>
          </a:xfrm>
          <a:prstGeom prst="rect">
            <a:avLst/>
          </a:prstGeom>
          <a:noFill/>
        </p:spPr>
        <p:txBody>
          <a:bodyPr wrap="square">
            <a:spAutoFit/>
          </a:bodyPr>
          <a:lstStyle/>
          <a:p>
            <a:pPr>
              <a:spcAft>
                <a:spcPts val="1200"/>
              </a:spcAft>
              <a:defRPr sz="1800">
                <a:solidFill>
                  <a:srgbClr val="07172F"/>
                </a:solidFill>
              </a:defRPr>
            </a:pPr>
            <a:r>
              <a:t>Assessment type: structured penetration test</a:t>
            </a:r>
          </a:p>
          <a:p>
            <a:pPr>
              <a:spcAft>
                <a:spcPts val="1200"/>
              </a:spcAft>
              <a:defRPr sz="1800">
                <a:solidFill>
                  <a:srgbClr val="07172F"/>
                </a:solidFill>
              </a:defRPr>
            </a:pPr>
            <a:r>
              <a:t>Rules of engagement: activities performed within the authorized engagement scope</a:t>
            </a:r>
          </a:p>
          <a:p>
            <a:pPr>
              <a:spcAft>
                <a:spcPts val="1200"/>
              </a:spcAft>
              <a:defRPr sz="1800">
                <a:solidFill>
                  <a:srgbClr val="07172F"/>
                </a:solidFill>
              </a:defRPr>
            </a:pPr>
            <a:r>
              <a:t>Limitation: findings were documented from the assessed evidence set and should be revalidated during remediation and retest</a:t>
            </a:r>
          </a:p>
          <a:p>
            <a:pPr>
              <a:spcAft>
                <a:spcPts val="1200"/>
              </a:spcAft>
              <a:defRPr sz="1800">
                <a:solidFill>
                  <a:srgbClr val="07172F"/>
                </a:solidFill>
              </a:defRPr>
            </a:pPr>
            <a:r>
              <a:t>Method: Reconnaissance, Enumeration, Vulnerability Analysis, Exploitation assessment, Post-Exploitation review, and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Risk Overview</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Severity Counts</a:t>
            </a:r>
          </a:p>
        </p:txBody>
      </p:sp>
      <p:sp>
        <p:nvSpPr>
          <p:cNvPr id="9" name="TextBox 8"/>
          <p:cNvSpPr txBox="1"/>
          <p:nvPr/>
        </p:nvSpPr>
        <p:spPr>
          <a:xfrm>
            <a:off x="457200" y="1737360"/>
            <a:ext cx="5394960" cy="4572000"/>
          </a:xfrm>
          <a:prstGeom prst="rect">
            <a:avLst/>
          </a:prstGeom>
          <a:noFill/>
        </p:spPr>
        <p:txBody>
          <a:bodyPr wrap="square">
            <a:spAutoFit/>
          </a:bodyPr>
          <a:lstStyle/>
          <a:p>
            <a:pPr>
              <a:spcAft>
                <a:spcPts val="800"/>
              </a:spcAft>
              <a:defRPr sz="1400"/>
            </a:pPr>
            <a:r>
              <a:t>• Critical: 0</a:t>
            </a:r>
          </a:p>
          <a:p>
            <a:pPr>
              <a:spcAft>
                <a:spcPts val="800"/>
              </a:spcAft>
              <a:defRPr sz="1400"/>
            </a:pPr>
            <a:r>
              <a:t>• High: 0</a:t>
            </a:r>
          </a:p>
          <a:p>
            <a:pPr>
              <a:spcAft>
                <a:spcPts val="800"/>
              </a:spcAft>
              <a:defRPr sz="1400"/>
            </a:pPr>
            <a:r>
              <a:t>• Medium: 1</a:t>
            </a:r>
          </a:p>
          <a:p>
            <a:pPr>
              <a:spcAft>
                <a:spcPts val="800"/>
              </a:spcAft>
              <a:defRPr sz="1400"/>
            </a:pPr>
            <a:r>
              <a:t>• Low: 1</a:t>
            </a:r>
          </a:p>
          <a:p>
            <a:pPr>
              <a:spcAft>
                <a:spcPts val="800"/>
              </a:spcAft>
              <a:defRPr sz="1400"/>
            </a:pPr>
            <a:r>
              <a:t>• Info: 1</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Assessment Scope</a:t>
            </a:r>
          </a:p>
        </p:txBody>
      </p:sp>
      <p:sp>
        <p:nvSpPr>
          <p:cNvPr id="11" name="TextBox 10"/>
          <p:cNvSpPr txBox="1"/>
          <p:nvPr/>
        </p:nvSpPr>
        <p:spPr>
          <a:xfrm>
            <a:off x="6309360" y="1737360"/>
            <a:ext cx="5394960" cy="4572000"/>
          </a:xfrm>
          <a:prstGeom prst="rect">
            <a:avLst/>
          </a:prstGeom>
          <a:noFill/>
        </p:spPr>
        <p:txBody>
          <a:bodyPr wrap="square">
            <a:spAutoFit/>
          </a:bodyPr>
          <a:lstStyle/>
          <a:p>
            <a:pPr>
              <a:spcAft>
                <a:spcPts val="800"/>
              </a:spcAft>
              <a:defRPr sz="1400"/>
            </a:pPr>
            <a:r>
              <a:t>• Quick target fingerprint completed</a:t>
            </a:r>
          </a:p>
          <a:p>
            <a:pPr>
              <a:spcAft>
                <a:spcPts val="800"/>
              </a:spcAft>
              <a:defRPr sz="1400"/>
            </a:pPr>
            <a:r>
              <a:t>• Safe enumeration completed</a:t>
            </a:r>
          </a:p>
          <a:p>
            <a:pPr>
              <a:spcAft>
                <a:spcPts val="800"/>
              </a:spcAft>
              <a:defRPr sz="1400"/>
            </a:pPr>
            <a:r>
              <a:t>• Triage findings and context prepared</a:t>
            </a:r>
          </a:p>
          <a:p>
            <a:pPr>
              <a:spcAft>
                <a:spcPts val="800"/>
              </a:spcAft>
              <a:defRPr sz="1400"/>
            </a:pPr>
            <a:r>
              <a:t>• Published report and remediation prepared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Findings Summary</a:t>
            </a:r>
          </a:p>
        </p:txBody>
      </p:sp>
      <p:graphicFrame>
        <p:nvGraphicFramePr>
          <p:cNvPr id="7" name="Table 6"/>
          <p:cNvGraphicFramePr>
            <a:graphicFrameLocks noGrp="1"/>
          </p:cNvGraphicFramePr>
          <p:nvPr/>
        </p:nvGraphicFramePr>
        <p:xfrm>
          <a:off x="457200" y="1188720"/>
          <a:ext cx="11277295" cy="2194560"/>
        </p:xfrm>
        <a:graphic>
          <a:graphicData uri="http://schemas.openxmlformats.org/drawingml/2006/table">
            <a:tbl>
              <a:tblPr firstRow="1" bandRow="1">
                <a:tableStyleId>{5C22544A-7EE6-4342-B048-85BDC9FD1C3A}</a:tableStyleId>
              </a:tblPr>
              <a:tblGrid>
                <a:gridCol w="2819323"/>
                <a:gridCol w="2819323"/>
                <a:gridCol w="2819323"/>
                <a:gridCol w="2819326"/>
              </a:tblGrid>
              <a:tr h="548640">
                <a:tc>
                  <a:txBody>
                    <a:bodyPr/>
                    <a:lstStyle/>
                    <a:p>
                      <a:pPr>
                        <a:defRPr b="1" sz="1400">
                          <a:solidFill>
                            <a:srgbClr val="F8F9FA"/>
                          </a:solidFill>
                        </a:defRPr>
                      </a:pPr>
                      <a:r>
                        <a:t>ID</a:t>
                      </a:r>
                    </a:p>
                  </a:txBody>
                  <a:tcPr>
                    <a:solidFill>
                      <a:srgbClr val="58B847"/>
                    </a:solidFill>
                  </a:tcPr>
                </a:tc>
                <a:tc>
                  <a:txBody>
                    <a:bodyPr/>
                    <a:lstStyle/>
                    <a:p>
                      <a:pPr>
                        <a:defRPr b="1" sz="1400">
                          <a:solidFill>
                            <a:srgbClr val="F8F9FA"/>
                          </a:solidFill>
                        </a:defRPr>
                      </a:pPr>
                      <a:r>
                        <a:t>Severity</a:t>
                      </a:r>
                    </a:p>
                  </a:txBody>
                  <a:tcPr>
                    <a:solidFill>
                      <a:srgbClr val="58B847"/>
                    </a:solidFill>
                  </a:tcPr>
                </a:tc>
                <a:tc>
                  <a:txBody>
                    <a:bodyPr/>
                    <a:lstStyle/>
                    <a:p>
                      <a:pPr>
                        <a:defRPr b="1" sz="1400">
                          <a:solidFill>
                            <a:srgbClr val="F8F9FA"/>
                          </a:solidFill>
                        </a:defRPr>
                      </a:pPr>
                      <a:r>
                        <a:t>CVSS</a:t>
                      </a:r>
                    </a:p>
                  </a:txBody>
                  <a:tcPr>
                    <a:solidFill>
                      <a:srgbClr val="58B847"/>
                    </a:solidFill>
                  </a:tcPr>
                </a:tc>
                <a:tc>
                  <a:txBody>
                    <a:bodyPr/>
                    <a:lstStyle/>
                    <a:p>
                      <a:pPr>
                        <a:defRPr b="1" sz="1400">
                          <a:solidFill>
                            <a:srgbClr val="F8F9FA"/>
                          </a:solidFill>
                        </a:defRPr>
                      </a:pPr>
                      <a:r>
                        <a:t>Finding</a:t>
                      </a:r>
                    </a:p>
                  </a:txBody>
                  <a:tcPr>
                    <a:solidFill>
                      <a:srgbClr val="58B847"/>
                    </a:solidFill>
                  </a:tcPr>
                </a:tc>
              </a:tr>
              <a:tr h="548640">
                <a:tc>
                  <a:txBody>
                    <a:bodyPr/>
                    <a:lstStyle/>
                    <a:p>
                      <a:pPr>
                        <a:defRPr sz="1200"/>
                      </a:pPr>
                      <a:r>
                        <a:t>F-001</a:t>
                      </a:r>
                    </a:p>
                  </a:txBody>
                  <a:tcPr/>
                </a:tc>
                <a:tc>
                  <a:txBody>
                    <a:bodyPr/>
                    <a:lstStyle/>
                    <a:p>
                      <a:pPr>
                        <a:defRPr sz="1200">
                          <a:solidFill>
                            <a:srgbClr val="FFC107"/>
                          </a:solidFill>
                        </a:defRPr>
                      </a:pPr>
                      <a:r>
                        <a:t>MEDIUM</a:t>
                      </a:r>
                    </a:p>
                  </a:txBody>
                  <a:tcPr/>
                </a:tc>
                <a:tc>
                  <a:txBody>
                    <a:bodyPr/>
                    <a:lstStyle/>
                    <a:p>
                      <a:pPr>
                        <a:defRPr sz="1200"/>
                      </a:pPr>
                      <a:r>
                        <a:t>4.6</a:t>
                      </a:r>
                    </a:p>
                  </a:txBody>
                  <a:tcPr/>
                </a:tc>
                <a:tc>
                  <a:txBody>
                    <a:bodyPr/>
                    <a:lstStyle/>
                    <a:p>
                      <a:pPr>
                        <a:defRPr sz="1200"/>
                      </a:pPr>
                      <a:r>
                        <a:t>Local authorization configuration can be</a:t>
                      </a:r>
                    </a:p>
                  </a:txBody>
                  <a:tcPr/>
                </a:tc>
              </a:tr>
              <a:tr h="548640">
                <a:tc>
                  <a:txBody>
                    <a:bodyPr/>
                    <a:lstStyle/>
                    <a:p>
                      <a:pPr>
                        <a:defRPr sz="1200"/>
                      </a:pPr>
                      <a:r>
                        <a:t>F-003</a:t>
                      </a:r>
                    </a:p>
                  </a:txBody>
                  <a:tcPr/>
                </a:tc>
                <a:tc>
                  <a:txBody>
                    <a:bodyPr/>
                    <a:lstStyle/>
                    <a:p>
                      <a:pPr>
                        <a:defRPr sz="1200">
                          <a:solidFill>
                            <a:srgbClr val="28A745"/>
                          </a:solidFill>
                        </a:defRPr>
                      </a:pPr>
                      <a:r>
                        <a:t>LOW</a:t>
                      </a:r>
                    </a:p>
                  </a:txBody>
                  <a:tcPr/>
                </a:tc>
                <a:tc>
                  <a:txBody>
                    <a:bodyPr/>
                    <a:lstStyle/>
                    <a:p>
                      <a:pPr>
                        <a:defRPr sz="1200"/>
                      </a:pPr>
                      <a:r>
                        <a:t>N/A</a:t>
                      </a:r>
                    </a:p>
                  </a:txBody>
                  <a:tcPr/>
                </a:tc>
                <a:tc>
                  <a:txBody>
                    <a:bodyPr/>
                    <a:lstStyle/>
                    <a:p>
                      <a:pPr>
                        <a:defRPr sz="1200"/>
                      </a:pPr>
                      <a:r>
                        <a:t>Phoenix recovery chain is critical but</a:t>
                      </a:r>
                    </a:p>
                  </a:txBody>
                  <a:tcPr/>
                </a:tc>
              </a:tr>
              <a:tr h="548640">
                <a:tc>
                  <a:txBody>
                    <a:bodyPr/>
                    <a:lstStyle/>
                    <a:p>
                      <a:pPr>
                        <a:defRPr sz="1200"/>
                      </a:pPr>
                      <a:r>
                        <a:t>F-002</a:t>
                      </a:r>
                    </a:p>
                  </a:txBody>
                  <a:tcPr/>
                </a:tc>
                <a:tc>
                  <a:txBody>
                    <a:bodyPr/>
                    <a:lstStyle/>
                    <a:p>
                      <a:pPr>
                        <a:defRPr sz="1200"/>
                      </a:pPr>
                      <a:r>
                        <a:t>INFO</a:t>
                      </a:r>
                    </a:p>
                  </a:txBody>
                  <a:tcPr/>
                </a:tc>
                <a:tc>
                  <a:txBody>
                    <a:bodyPr/>
                    <a:lstStyle/>
                    <a:p>
                      <a:pPr>
                        <a:defRPr sz="1200"/>
                      </a:pPr>
                      <a:r>
                        <a:t>N/A</a:t>
                      </a:r>
                    </a:p>
                  </a:txBody>
                  <a:tcPr/>
                </a:tc>
                <a:tc>
                  <a:txBody>
                    <a:bodyPr/>
                    <a:lstStyle/>
                    <a:p>
                      <a:pPr>
                        <a:defRPr sz="1200"/>
                      </a:pPr>
                      <a:r>
                        <a:t>Encrypted vault remained the effective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F-001 — Local authorization configuration can be altered via hardware-lock.env</a:t>
            </a:r>
          </a:p>
        </p:txBody>
      </p:sp>
      <p:sp>
        <p:nvSpPr>
          <p:cNvPr id="7" name="TextBox 6"/>
          <p:cNvSpPr txBox="1"/>
          <p:nvPr/>
        </p:nvSpPr>
        <p:spPr>
          <a:xfrm>
            <a:off x="640080" y="1325880"/>
            <a:ext cx="10789920" cy="4846320"/>
          </a:xfrm>
          <a:prstGeom prst="rect">
            <a:avLst/>
          </a:prstGeom>
          <a:noFill/>
        </p:spPr>
        <p:txBody>
          <a:bodyPr wrap="square">
            <a:spAutoFit/>
          </a:bodyPr>
          <a:lstStyle/>
          <a:p>
            <a:pPr>
              <a:spcAft>
                <a:spcPts val="1200"/>
              </a:spcAft>
              <a:defRPr b="1" sz="1800">
                <a:solidFill>
                  <a:srgbClr val="FFC107"/>
                </a:solidFill>
              </a:defRPr>
            </a:pPr>
            <a:r>
              <a:t>Severity: MEDIUM | CVSS: 4.6 | Status: reported</a:t>
            </a:r>
          </a:p>
          <a:p>
            <a:pPr>
              <a:spcAft>
                <a:spcPts val="1200"/>
              </a:spcAft>
              <a:defRPr sz="1800">
                <a:solidFill>
                  <a:srgbClr val="07172F"/>
                </a:solidFill>
              </a:defRPr>
            </a:pPr>
            <a:r>
              <a:t>Affected: hardwareLockV2 local authorization layer</a:t>
            </a:r>
          </a:p>
          <a:p>
            <a:pPr>
              <a:spcAft>
                <a:spcPts val="1200"/>
              </a:spcAft>
              <a:defRPr sz="1800">
                <a:solidFill>
                  <a:srgbClr val="07172F"/>
                </a:solidFill>
              </a:defRPr>
            </a:pPr>
            <a:r>
              <a:t>CVSS Version: CVSS v4.0 Base</a:t>
            </a:r>
          </a:p>
          <a:p>
            <a:pPr>
              <a:spcAft>
                <a:spcPts val="1200"/>
              </a:spcAft>
              <a:defRPr sz="1800">
                <a:solidFill>
                  <a:srgbClr val="07172F"/>
                </a:solidFill>
              </a:defRPr>
            </a:pPr>
            <a:r>
              <a:t>Vector: CVSS:4.0/AV:L/AC:L/AT:N/PR:H/UI:N/VC:N/VI:L/VA:N/SC:N/SI:N/SA:N</a:t>
            </a:r>
          </a:p>
          <a:p>
            <a:pPr>
              <a:spcAft>
                <a:spcPts val="1200"/>
              </a:spcAft>
              <a:defRPr b="1" sz="1800">
                <a:solidFill>
                  <a:srgbClr val="FD7E14"/>
                </a:solidFill>
              </a:defRPr>
            </a:pPr>
            <a:r>
              <a:t>Rationale: This weakness requires local access with high privileges because the attacker must modify /etc/nctv-phoenix/hardware-lock.env. The authorization gate can then be bypassed at that layer, but the observed impact in this engagement was limited to weakening authorization integrity rather than exposing the protected vault or subsequent systems</a:t>
            </a:r>
          </a:p>
          <a:p>
            <a:pPr>
              <a:spcAft>
                <a:spcPts val="1200"/>
              </a:spcAft>
              <a:defRPr b="1" sz="1800">
                <a:solidFill>
                  <a:srgbClr val="FFC107"/>
                </a:solidFill>
              </a:defRPr>
            </a:pPr>
            <a:r>
              <a:t>Priority: Medium priority. Fix as part of trust-boundary hardening because it weakens a security control, but it is not the primary effective boundary by itself in the tested state</a:t>
            </a:r>
          </a:p>
          <a:p>
            <a:pPr>
              <a:spcAft>
                <a:spcPts val="1200"/>
              </a:spcAft>
              <a:defRPr b="1" sz="1800">
                <a:solidFill>
                  <a:srgbClr val="28A745"/>
                </a:solidFill>
              </a:defRPr>
            </a:pPr>
            <a:r>
              <a:t>Description: The device authorization decision depends on values stored in /etc/nctv-phoenix/hardware-lock.env. Testing showed these values can be changed locally, allowing the current hardware tuple to satisfy the initial authorization gate</a:t>
            </a:r>
          </a:p>
          <a:p>
            <a:pPr>
              <a:spcAft>
                <a:spcPts val="1200"/>
              </a:spcAft>
              <a:defRPr sz="1800">
                <a:solidFill>
                  <a:srgbClr val="07172F"/>
                </a:solidFill>
              </a:defRPr>
            </a:pPr>
            <a:r>
              <a:t>Impact: A local attacker with sufficient write access can weaken trust in the first-layer hardware authorization mechanism and make the device appear authorized even when the original tuple has changed</a:t>
            </a:r>
          </a:p>
          <a:p>
            <a:pPr>
              <a:spcAft>
                <a:spcPts val="1200"/>
              </a:spcAft>
              <a:defRPr sz="1800">
                <a:solidFill>
                  <a:srgbClr val="07172F"/>
                </a:solidFill>
              </a:defRPr>
            </a:pPr>
            <a:r>
              <a:t>Remediation: Protect hardware-lock.env with stronger integrity controls, minimize who can modify it, and remove reliance on mutable plaintext authorization values as the primary trust anchor</a:t>
            </a:r>
          </a:p>
          <a:p>
            <a:pPr>
              <a:spcAft>
                <a:spcPts val="1200"/>
              </a:spcAft>
              <a:defRPr sz="1800">
                <a:solidFill>
                  <a:srgbClr val="07172F"/>
                </a:solidFill>
              </a:defRPr>
            </a:pPr>
            <a:r>
              <a:t>Hardening: Bind authorization to tamper-evident state such as signed metadata, sealed secrets, or secure hardware-backed attestation rather than editable local config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F-003 — Phoenix recovery chain is critical but missing from the current image</a:t>
            </a:r>
          </a:p>
        </p:txBody>
      </p:sp>
      <p:sp>
        <p:nvSpPr>
          <p:cNvPr id="7" name="TextBox 6"/>
          <p:cNvSpPr txBox="1"/>
          <p:nvPr/>
        </p:nvSpPr>
        <p:spPr>
          <a:xfrm>
            <a:off x="640080" y="1325880"/>
            <a:ext cx="10789920" cy="4846320"/>
          </a:xfrm>
          <a:prstGeom prst="rect">
            <a:avLst/>
          </a:prstGeom>
          <a:noFill/>
        </p:spPr>
        <p:txBody>
          <a:bodyPr wrap="square">
            <a:spAutoFit/>
          </a:bodyPr>
          <a:lstStyle/>
          <a:p>
            <a:pPr>
              <a:spcAft>
                <a:spcPts val="1200"/>
              </a:spcAft>
              <a:defRPr b="1" sz="1800">
                <a:solidFill>
                  <a:srgbClr val="28A745"/>
                </a:solidFill>
              </a:defRPr>
            </a:pPr>
            <a:r>
              <a:t>Severity: LOW | CVSS: N/A | Status: reported</a:t>
            </a:r>
          </a:p>
          <a:p>
            <a:pPr>
              <a:spcAft>
                <a:spcPts val="1200"/>
              </a:spcAft>
              <a:defRPr sz="1800">
                <a:solidFill>
                  <a:srgbClr val="07172F"/>
                </a:solidFill>
              </a:defRPr>
            </a:pPr>
            <a:r>
              <a:t>Affected: hardwareLockV2 guarded runtime recovery path</a:t>
            </a:r>
          </a:p>
          <a:p>
            <a:pPr>
              <a:spcAft>
                <a:spcPts val="1200"/>
              </a:spcAft>
              <a:defRPr sz="1800">
                <a:solidFill>
                  <a:srgbClr val="07172F"/>
                </a:solidFill>
              </a:defRPr>
            </a:pPr>
            <a:r>
              <a:t>CVSS Version: N/A</a:t>
            </a:r>
          </a:p>
          <a:p>
            <a:pPr>
              <a:spcAft>
                <a:spcPts val="1200"/>
              </a:spcAft>
              <a:defRPr b="1" sz="1800">
                <a:solidFill>
                  <a:srgbClr val="DC3545"/>
                </a:solidFill>
              </a:defRPr>
            </a:pPr>
            <a:r>
              <a:t>Priority: Low to Medium operational priority depending on how critical authorized recovery is for support, incident response, and trusted rebuilds</a:t>
            </a:r>
          </a:p>
          <a:p>
            <a:pPr>
              <a:spcAft>
                <a:spcPts val="1200"/>
              </a:spcAft>
              <a:defRPr sz="1800">
                <a:solidFill>
                  <a:srgbClr val="07172F"/>
                </a:solidFill>
              </a:defRPr>
            </a:pPr>
            <a:r>
              <a:t>Description: Recovered installer evidence showed that setup.enc is only a bootstrap. It installs nctv-player, then downloads and decrypts phoenix.enc and runs phoenix_install.sh --guard. Those second-stage Phoenix artifacts were not present locally during the assessment</a:t>
            </a:r>
          </a:p>
          <a:p>
            <a:pPr>
              <a:spcAft>
                <a:spcPts val="1200"/>
              </a:spcAft>
              <a:defRPr sz="1800">
                <a:solidFill>
                  <a:srgbClr val="07172F"/>
                </a:solidFill>
              </a:defRPr>
            </a:pPr>
            <a:r>
              <a:t>Impact: Runtime recovery on the current box is blocked because the device lacks the original Phoenix installer context or equivalent restore source</a:t>
            </a:r>
          </a:p>
          <a:p>
            <a:pPr>
              <a:spcAft>
                <a:spcPts val="1200"/>
              </a:spcAft>
              <a:defRPr b="1" sz="1800">
                <a:solidFill>
                  <a:srgbClr val="DC3545"/>
                </a:solidFill>
              </a:defRPr>
            </a:pPr>
            <a:r>
              <a:t>Remediation: Treat Phoenix installer artifacts, recovery media, and provenance records as critical assets. Store them securely, version them, and ensure legitimate recovery paths are available for authorized maintenance and incident response</a:t>
            </a:r>
          </a:p>
          <a:p>
            <a:pPr>
              <a:spcAft>
                <a:spcPts val="1200"/>
              </a:spcAft>
              <a:defRPr sz="1800">
                <a:solidFill>
                  <a:srgbClr val="07172F"/>
                </a:solidFill>
              </a:defRPr>
            </a:pPr>
            <a:r>
              <a:t>Hardening: Use signed recovery packages, audited retention of restore media, and explicit inventory of the guarded artifact chain so recovery does not depend on undocumented external residue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F-002 — Encrypted vault remained the effective security boundary</a:t>
            </a:r>
          </a:p>
        </p:txBody>
      </p:sp>
      <p:sp>
        <p:nvSpPr>
          <p:cNvPr id="7" name="TextBox 6"/>
          <p:cNvSpPr txBox="1"/>
          <p:nvPr/>
        </p:nvSpPr>
        <p:spPr>
          <a:xfrm>
            <a:off x="640080" y="1325880"/>
            <a:ext cx="10789920" cy="4846320"/>
          </a:xfrm>
          <a:prstGeom prst="rect">
            <a:avLst/>
          </a:prstGeom>
          <a:noFill/>
        </p:spPr>
        <p:txBody>
          <a:bodyPr wrap="square">
            <a:spAutoFit/>
          </a:bodyPr>
          <a:lstStyle/>
          <a:p>
            <a:pPr>
              <a:spcAft>
                <a:spcPts val="1200"/>
              </a:spcAft>
              <a:defRPr sz="1800">
                <a:solidFill>
                  <a:srgbClr val="07172F"/>
                </a:solidFill>
              </a:defRPr>
            </a:pPr>
            <a:r>
              <a:t>Severity: INFO | CVSS: N/A | Status: reported</a:t>
            </a:r>
          </a:p>
          <a:p>
            <a:pPr>
              <a:spcAft>
                <a:spcPts val="1200"/>
              </a:spcAft>
              <a:defRPr sz="1800">
                <a:solidFill>
                  <a:srgbClr val="07172F"/>
                </a:solidFill>
              </a:defRPr>
            </a:pPr>
            <a:r>
              <a:t>Affected: /var/lib/nctv-phoenix/vault.img</a:t>
            </a:r>
          </a:p>
          <a:p>
            <a:pPr>
              <a:spcAft>
                <a:spcPts val="1200"/>
              </a:spcAft>
              <a:defRPr sz="1800">
                <a:solidFill>
                  <a:srgbClr val="07172F"/>
                </a:solidFill>
              </a:defRPr>
            </a:pPr>
            <a:r>
              <a:t>CVSS Version: N/A</a:t>
            </a:r>
          </a:p>
          <a:p>
            <a:pPr>
              <a:spcAft>
                <a:spcPts val="1200"/>
              </a:spcAft>
              <a:defRPr sz="1800">
                <a:solidFill>
                  <a:srgbClr val="07172F"/>
                </a:solidFill>
              </a:defRPr>
            </a:pPr>
            <a:r>
              <a:t>Priority: Informational. Preserve this control and use it to guide remediation design around the weaker outer authorization layer</a:t>
            </a:r>
          </a:p>
          <a:p>
            <a:pPr>
              <a:spcAft>
                <a:spcPts val="1200"/>
              </a:spcAft>
              <a:defRPr sz="1800">
                <a:solidFill>
                  <a:srgbClr val="07172F"/>
                </a:solidFill>
              </a:defRPr>
            </a:pPr>
            <a:r>
              <a:t>Description: Even after the authorization layer was aligned to the current hardware tuple, the LUKS-backed vault did not unlock and the secure runtime was not exposed. This shows the encrypted vault remained the effective protection boundary in the tested state</a:t>
            </a:r>
          </a:p>
          <a:p>
            <a:pPr>
              <a:spcAft>
                <a:spcPts val="1200"/>
              </a:spcAft>
              <a:defRPr sz="1800">
                <a:solidFill>
                  <a:srgbClr val="07172F"/>
                </a:solidFill>
              </a:defRPr>
            </a:pPr>
            <a:r>
              <a:t>Impact: The secure runtime could not be recovered or executed from the surviving local artifacts, limiting compromise despite the weaker authorization layer</a:t>
            </a:r>
          </a:p>
          <a:p>
            <a:pPr>
              <a:spcAft>
                <a:spcPts val="1200"/>
              </a:spcAft>
              <a:defRPr b="1" sz="1800">
                <a:solidFill>
                  <a:srgbClr val="28A745"/>
                </a:solidFill>
              </a:defRPr>
            </a:pPr>
            <a:r>
              <a:t>Remediation: Preserve the cryptographic separation, review the unlock/provisioning workflow for secure provenance, and maintain recoverable records for original authorized tuples and guarded runtime provenance</a:t>
            </a:r>
          </a:p>
          <a:p>
            <a:pPr>
              <a:spcAft>
                <a:spcPts val="1200"/>
              </a:spcAft>
              <a:defRPr sz="1800">
                <a:solidFill>
                  <a:srgbClr val="07172F"/>
                </a:solidFill>
              </a:defRPr>
            </a:pPr>
            <a:r>
              <a:t>Hardening: Keep vault unlocking dependent on stronger secrets or device-bound material, and add signed provenance checks for restore/install artifacts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a:spAutoFit/>
          </a:bodyPr>
          <a:lstStyle/>
          <a:p>
            <a:pPr>
              <a:spcAft>
                <a:spcPts val="800"/>
              </a:spcAft>
              <a:defRPr sz="1400"/>
            </a:pPr>
            <a:r>
              <a:t>• No immediate actions recorded</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a:spAutoFit/>
          </a:bodyPr>
          <a:lstStyle/>
          <a:p>
            <a:pPr>
              <a:spcAft>
                <a:spcPts val="800"/>
              </a:spcAft>
              <a:defRPr sz="1400"/>
            </a:pPr>
            <a:r>
              <a:t>• F-001: Remediate the issue and confirm the fix in a follow-up validation scan</a:t>
            </a:r>
          </a:p>
          <a:p>
            <a:pPr>
              <a:spcAft>
                <a:spcPts val="800"/>
              </a:spcAft>
              <a:defRPr sz="1400"/>
            </a:pPr>
            <a:r>
              <a:t>• F-003: Treat Phoenix installer artifacts, recovery media, and provenance records as critical assets</a:t>
            </a:r>
          </a:p>
          <a:p>
            <a:pPr>
              <a:spcAft>
                <a:spcPts val="800"/>
              </a:spcAft>
              <a:defRPr sz="1400"/>
            </a:pPr>
            <a:r>
              <a:t>• F-002: Remediate the issue and confirm the fix in a follow-up validation scan</a:t>
            </a:r>
          </a:p>
          <a:p>
            <a:pPr>
              <a:spcAft>
                <a:spcPts val="800"/>
              </a:spcAft>
              <a:defRPr sz="1400"/>
            </a:pPr>
            <a:r>
              <a:t>• Authorization Integrity: Replace editable plaintext authorization tuples with tamper-evident or hardware-backed authorization data</a:t>
            </a:r>
          </a:p>
          <a:p>
            <a:pPr>
              <a:spcAft>
                <a:spcPts val="800"/>
              </a:spcAft>
              <a:defRPr sz="1400"/>
            </a:pPr>
            <a:r>
              <a:t>• Recovery Provenance: Maintain secure, documented, and recoverable copies of Phoenix installer artifacts and approved repair media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 (2/2)</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a:spAutoFit/>
          </a:bodyPr>
          <a:lstStyle/>
          <a:p>
            <a:pPr>
              <a:spcAft>
                <a:spcPts val="800"/>
              </a:spcAft>
              <a:defRPr sz="1400"/>
            </a:pPr>
            <a:r>
              <a:t>• No additional immediate actions</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a:spAutoFit/>
          </a:bodyPr>
          <a:lstStyle/>
          <a:p>
            <a:pPr>
              <a:spcAft>
                <a:spcPts val="800"/>
              </a:spcAft>
              <a:defRPr sz="1400"/>
            </a:pPr>
            <a:r>
              <a:t>• Operational Resilience: Reduce unnecessary exposure and monitor for unexpected access</a:t>
            </a:r>
          </a:p>
          <a:p>
            <a:pPr>
              <a:spcAft>
                <a:spcPts val="800"/>
              </a:spcAft>
              <a:defRPr sz="1400"/>
            </a:pPr>
            <a:r>
              <a:t>• Monitoring: Reduce unnecessary exposure and monitor for unexpected access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Cleanup, Residual Risk, and Next Steps</a:t>
            </a:r>
          </a:p>
        </p:txBody>
      </p:sp>
      <p:sp>
        <p:nvSpPr>
          <p:cNvPr id="7" name="TextBox 6"/>
          <p:cNvSpPr txBox="1"/>
          <p:nvPr/>
        </p:nvSpPr>
        <p:spPr>
          <a:xfrm>
            <a:off x="640080" y="1325880"/>
            <a:ext cx="10789920" cy="4846320"/>
          </a:xfrm>
          <a:prstGeom prst="rect">
            <a:avLst/>
          </a:prstGeom>
          <a:noFill/>
        </p:spPr>
        <p:txBody>
          <a:bodyPr wrap="square">
            <a:spAutoFit/>
          </a:bodyPr>
          <a:lstStyle/>
          <a:p>
            <a:pPr>
              <a:spcAft>
                <a:spcPts val="1200"/>
              </a:spcAft>
              <a:defRPr b="1" sz="1800">
                <a:solidFill>
                  <a:srgbClr val="28A745"/>
                </a:solidFill>
              </a:defRPr>
            </a:pPr>
            <a:r>
              <a:t>Cleanup: no target-side cleanup actions were captured by this reporting workflow</a:t>
            </a:r>
          </a:p>
          <a:p>
            <a:pPr>
              <a:spcAft>
                <a:spcPts val="1200"/>
              </a:spcAft>
              <a:defRPr sz="1800">
                <a:solidFill>
                  <a:srgbClr val="07172F"/>
                </a:solidFill>
              </a:defRPr>
            </a:pPr>
            <a:r>
              <a:t>Residual risk: triage candidates may still indicate real exposure until manually validated and remediated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